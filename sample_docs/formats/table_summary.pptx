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da418ad4dcf4d54" /><Relationship Type="http://schemas.openxmlformats.org/officeDocument/2006/relationships/extended-properties" Target="/docProps/app.xml" Id="R1836526d129745d0" /><Relationship Type="http://schemas.openxmlformats.org/officeDocument/2006/relationships/officeDocument" Target="/ppt/presentation.xml" Id="R6566cbbe651d4cb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a215a15ae174949"/>
  </p:sldMasterIdLst>
  <p:notesMasterIdLst>
    <p:notesMasterId xmlns:r="http://schemas.openxmlformats.org/officeDocument/2006/relationships" r:id="R35d90ee990e64a65"/>
  </p:notesMasterIdLst>
  <p:sldIdLst>
    <p:sldId xmlns:r="http://schemas.openxmlformats.org/officeDocument/2006/relationships" id="256" r:id="R21efd1103bfa43c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989c60b032c4e78" /><Relationship Type="http://schemas.openxmlformats.org/officeDocument/2006/relationships/slideMaster" Target="/ppt/slideMasters/slideMaster1.xml" Id="Rea215a15ae174949" /><Relationship Type="http://schemas.openxmlformats.org/officeDocument/2006/relationships/notesMaster" Target="/ppt/notesMasters/notesMaster1.xml" Id="R35d90ee990e64a65" /><Relationship Type="http://schemas.openxmlformats.org/officeDocument/2006/relationships/presProps" Target="/ppt/presProps.xml" Id="Rff651af548ed499a" /><Relationship Type="http://schemas.openxmlformats.org/officeDocument/2006/relationships/tableStyles" Target="/ppt/tableStyles.xml" Id="R4c5206d76bed42ec" /><Relationship Type="http://schemas.openxmlformats.org/officeDocument/2006/relationships/slide" Target="/ppt/slides/slide1.xml" Id="R21efd1103bfa43c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5bcc2d9cc5844a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579372e2fdd4828" /><Relationship Type="http://schemas.openxmlformats.org/officeDocument/2006/relationships/notesMaster" Target="/ppt/notesMasters/notesMaster1.xml" Id="R26dd38d22bfa428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1b18e7aa714ac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8bb7e03e166428a" /><Relationship Type="http://schemas.openxmlformats.org/officeDocument/2006/relationships/slideLayout" Target="/ppt/slideLayouts/slideLayout1.xml" Id="R14ce2199965f4bf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4ce2199965f4bf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a0828e9a484717" /><Relationship Type="http://schemas.openxmlformats.org/officeDocument/2006/relationships/image" Target="/ppt/media/image.png" Id="R214435900fbe4a5d" /><Relationship Type="http://schemas.openxmlformats.org/officeDocument/2006/relationships/notesSlide" Target="/ppt/notesSlides/notesSlide1.xml" Id="R07baad0292f8462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6C8B52B9-D047-48D2-ABDA-6CE95B934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6250"/>
            <a:ext cx="1089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3B57"/>
                </a:solidFill>
              </a:defRPr>
            </a:pPr>
            <a:r>
              <a:rPr sz="3000" b="1">
                <a:solidFill>
                  <a:srgbClr val="173B57"/>
                </a:solidFill>
                <a:latin typeface="Arial Unicode MS"/>
                <a:ea typeface="Arial Unicode MS"/>
                <a:cs typeface="Arial Unicode MS"/>
              </a:rPr>
              <a:t>표 캡처는 ‘셀’이 아니라 ‘픽셀’입니다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8931093-6BE3-4177-A2F9-5124AA2F9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475467"/>
                </a:solidFill>
              </a:defRPr>
            </a:pPr>
            <a:r>
              <a:rPr sz="1575">
                <a:solidFill>
                  <a:srgbClr val="475467"/>
                </a:solidFill>
                <a:latin typeface="Arial Unicode MS"/>
                <a:ea typeface="Arial Unicode MS"/>
                <a:cs typeface="Arial Unicode MS"/>
              </a:rPr>
              <a:t>행·열·병합 구조를 다시 복원해야 Excel로 안전하게 돌아갑니다.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4435900fbe4a5d"/>
          <a:srcRect xmlns:a="http://schemas.openxmlformats.org/drawingml/2006/main" l="0" t="15841" r="0" b="158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762125"/>
            <a:ext cx="5286375" cy="4333875"/>
          </a:xfrm>
          <a:prstGeom xmlns:a="http://schemas.openxmlformats.org/drawingml/2006/main" prst="roundRect">
            <a:avLst>
              <a:gd name="adj" fmla="val 2637"/>
            </a:avLst>
          </a:prstGeom>
        </p:spPr>
      </p:pic>
      <p:sp>
        <p:nvSpPr>
          <p:cNvPr id="4" name="right-heading">
            <a:extLst xmlns:a="http://schemas.openxmlformats.org/drawingml/2006/main">
              <a:ext uri="{FF2B5EF4-FFF2-40B4-BE49-F238E27FC236}">
                <a16:creationId xmlns:a16="http://schemas.microsoft.com/office/drawing/2014/main" id="{97348D33-5E6D-48A7-B11F-E5F51EE7E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57375"/>
            <a:ext cx="457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F766E"/>
                </a:solidFill>
              </a:defRPr>
            </a:pPr>
            <a:r>
              <a:rPr sz="2025" b="1">
                <a:solidFill>
                  <a:srgbClr val="0F766E"/>
                </a:solidFill>
                <a:latin typeface="Arial Unicode MS"/>
                <a:ea typeface="Arial Unicode MS"/>
                <a:cs typeface="Arial Unicode MS"/>
              </a:rPr>
              <a:t>자동화 전에 복원할 것</a:t>
            </a:r>
          </a:p>
        </p:txBody>
      </p:sp>
      <p:sp>
        <p:nvSpPr>
          <p:cNvPr id="5" name="right-body">
            <a:extLst xmlns:a="http://schemas.openxmlformats.org/drawingml/2006/main">
              <a:ext uri="{FF2B5EF4-FFF2-40B4-BE49-F238E27FC236}">
                <a16:creationId xmlns:a16="http://schemas.microsoft.com/office/drawing/2014/main" id="{C43E1BC1-225E-4375-B351-23C35A363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28875"/>
            <a:ext cx="44767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>
                <a:solidFill>
                  <a:srgbClr val="1D2939"/>
                </a:solidFill>
              </a:defRPr>
            </a:pPr>
            <a:r>
              <a:rPr sz="1725">
                <a:solidFill>
                  <a:srgbClr val="1D2939"/>
                </a:solidFill>
                <a:latin typeface="Arial Unicode MS"/>
                <a:ea typeface="Arial Unicode MS"/>
                <a:cs typeface="Arial Unicode MS"/>
              </a:rPr>
              <a:t>1. 품목 행의 시작과 끝</a:t>
            </a:r>
          </a:p>
          <a:p xmlns:a="http://schemas.openxmlformats.org/drawingml/2006/main">
            <a:pPr>
              <a:buNone/>
              <a:defRPr sz="1725">
                <a:solidFill>
                  <a:srgbClr val="1D2939"/>
                </a:solidFill>
              </a:defRPr>
            </a:pPr>
            <a:r>
              <a:rPr sz="1725">
                <a:solidFill>
                  <a:srgbClr val="1D2939"/>
                </a:solidFill>
                <a:latin typeface="Arial Unicode MS"/>
                <a:ea typeface="Arial Unicode MS"/>
                <a:cs typeface="Arial Unicode MS"/>
              </a:rPr>
              <a:t>2. 수량·단가·금액의 열 대응</a:t>
            </a:r>
          </a:p>
          <a:p xmlns:a="http://schemas.openxmlformats.org/drawingml/2006/main">
            <a:pPr>
              <a:buNone/>
              <a:defRPr sz="1725">
                <a:solidFill>
                  <a:srgbClr val="1D2939"/>
                </a:solidFill>
              </a:defRPr>
            </a:pPr>
            <a:r>
              <a:rPr sz="1725">
                <a:solidFill>
                  <a:srgbClr val="1D2939"/>
                </a:solidFill>
                <a:latin typeface="Arial Unicode MS"/>
                <a:ea typeface="Arial Unicode MS"/>
                <a:cs typeface="Arial Unicode MS"/>
              </a:rPr>
              <a:t>3. 품목 소계와 세액·총액 관계</a:t>
            </a:r>
          </a:p>
          <a:p xmlns:a="http://schemas.openxmlformats.org/drawingml/2006/main">
            <a:pPr>
              <a:buNone/>
              <a:defRPr sz="1725">
                <a:solidFill>
                  <a:srgbClr val="1D2939"/>
                </a:solidFill>
              </a:defRPr>
            </a:pPr>
            <a:r>
              <a:rPr sz="1725">
                <a:solidFill>
                  <a:srgbClr val="1D2939"/>
                </a:solidFill>
                <a:latin typeface="Arial Unicode MS"/>
                <a:ea typeface="Arial Unicode MS"/>
                <a:cs typeface="Arial Unicode MS"/>
              </a:rPr>
              <a:t>4. 원본 위치와 최종 셀의 근거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725">
                <a:solidFill>
                  <a:srgbClr val="1D2939"/>
                </a:solidFill>
              </a:defRPr>
            </a:pPr>
            <a:r>
              <a:rPr sz="1725">
                <a:solidFill>
                  <a:srgbClr val="1D2939"/>
                </a:solidFill>
                <a:latin typeface="Arial Unicode MS"/>
                <a:ea typeface="Arial Unicode MS"/>
                <a:cs typeface="Arial Unicode MS"/>
              </a:rPr>
              <a:t>문서가 PPT라면 그룹 도형, 읽기 순서, 발표자 노트까지 별도로 확인합니다.</a:t>
            </a:r>
          </a:p>
        </p:txBody>
      </p:sp>
      <p:sp>
        <p:nvSpPr>
          <p:cNvPr id="6" name="exercise">
            <a:extLst xmlns:a="http://schemas.openxmlformats.org/drawingml/2006/main">
              <a:ext uri="{FF2B5EF4-FFF2-40B4-BE49-F238E27FC236}">
                <a16:creationId xmlns:a16="http://schemas.microsoft.com/office/drawing/2014/main" id="{59D06B15-2463-4848-BC14-EE664CC33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286375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7A5A00"/>
                </a:solidFill>
              </a:defRPr>
            </a:pPr>
            <a:r>
              <a:rPr sz="1350" b="1">
                <a:solidFill>
                  <a:srgbClr val="7A5A00"/>
                </a:solidFill>
                <a:latin typeface="Arial Unicode MS"/>
                <a:ea typeface="Arial Unicode MS"/>
                <a:cs typeface="Arial Unicode MS"/>
              </a:rPr>
              <a:t>실습: 이 슬라이드를 이미지로 캡처한 뒤, 표 구조가 얼마나 사라지는지 비교해 보세요.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419EE1BB-9B6E-4440-9DC7-1A928D8E9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667085"/>
                </a:solidFill>
              </a:defRPr>
            </a:pPr>
            <a:r>
              <a:rPr sz="975">
                <a:solidFill>
                  <a:srgbClr val="667085"/>
                </a:solidFill>
                <a:latin typeface="Arial Unicode MS"/>
                <a:ea typeface="Arial Unicode MS"/>
                <a:cs typeface="Arial Unicode MS"/>
              </a:rPr>
              <a:t>교육용 합성 문서 · 실제 개인정보 없음</a:t>
            </a:r>
          </a:p>
        </p:txBody>
      </p:sp>
    </p:spTree>
    <p:extLst>
      <p:ext uri="{BB962C8B-B14F-4D97-AF65-F5344CB8AC3E}">
        <p14:creationId xmlns:p14="http://schemas.microsoft.com/office/powerpoint/2010/main" val="21451440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2026-07-28T13:33:37.1470000Z</dcterms:created>
  <dcterms:modified xsi:type="dcterms:W3CDTF">2026-07-28T13:33:37.1470000Z</dcterms:modified>
</coreProperties>
</file>